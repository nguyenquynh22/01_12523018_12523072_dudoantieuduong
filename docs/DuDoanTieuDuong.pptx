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8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3295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674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914400"/>
            <a:ext cx="2743200" cy="274320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842356"/>
            <a:ext cx="450826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 đoán </a:t>
            </a:r>
            <a:r>
              <a:rPr lang="en-US" sz="3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800" b="1" dirty="0" err="1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</a:t>
            </a:r>
            <a:r>
              <a:rPr lang="en-US" sz="3800" b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800" b="1" dirty="0" err="1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bệnh</a:t>
            </a:r>
            <a:r>
              <a:rPr lang="en-US" sz="3800" b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tiểu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800" b="1" dirty="0" err="1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đường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85257"/>
            <a:ext cx="5486400" cy="1608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 |  </a:t>
            </a:r>
            <a:r>
              <a:rPr lang="en-US" sz="1600" dirty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Pima Indians Diabetes </a:t>
            </a:r>
            <a:r>
              <a:rPr lang="en-US" sz="16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</a:p>
          <a:p>
            <a:pPr marL="0" indent="0">
              <a:buNone/>
            </a:pPr>
            <a:endParaRPr lang="en-US" sz="1600" dirty="0">
              <a:solidFill>
                <a:srgbClr val="BFDCD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Nguyen </a:t>
            </a:r>
            <a:r>
              <a:rPr lang="en-US" sz="1200" dirty="0" err="1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</a:t>
            </a:r>
            <a:r>
              <a:rPr lang="en-US" sz="12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Nhu</a:t>
            </a:r>
            <a:r>
              <a:rPr lang="en-US" sz="12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Quynh</a:t>
            </a:r>
            <a:r>
              <a:rPr lang="en-US" sz="12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12523072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Phan Tung Duong – 12523018</a:t>
            </a:r>
            <a:endParaRPr lang="en-US" sz="1200" dirty="0">
              <a:solidFill>
                <a:srgbClr val="BFDCD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Teacher: </a:t>
            </a:r>
            <a:r>
              <a:rPr lang="en-US" sz="1200" dirty="0" err="1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Th.S</a:t>
            </a:r>
            <a:r>
              <a:rPr lang="en-US" sz="12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Nguyen </a:t>
            </a:r>
            <a:r>
              <a:rPr lang="en-US" sz="1200" dirty="0" err="1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</a:t>
            </a:r>
            <a:r>
              <a:rPr lang="en-US" sz="12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Tuan </a:t>
            </a:r>
            <a:r>
              <a:rPr lang="en-US" sz="1200" dirty="0" err="1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Giới thiệu bài toán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loại nhị phân: dự đoán nguy cơ tiểu đường (Outcome: 0 = bình thường, 1 = nguy cơ) từ 8 chỉ số lâm sàng như Glucose, BMI, tuổi, huyết áp.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33472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Pima Indians Diabetes (Kaggle). Có nhiều giá trị 0 vô lý: Glucose (5), BloodPressure (35), SkinThickness (227), Insulin (374), BMI (11).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832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Tiền xử lý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30752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0 thành thiếu rồi điền Median. Chia 80/20 có stratify; StandardScaler chỉ fit trên Train để chống rò rỉ dữ liệu.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120640" y="1188720"/>
            <a:ext cx="16459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120640" y="1371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768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1965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mẫu bệnh nhân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03720" y="1188720"/>
            <a:ext cx="16459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903720" y="1371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1965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đặc trưng lâm sàng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120640" y="2606040"/>
            <a:ext cx="16459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120640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34.9%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33832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dương tính (268 mẫu)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03720" y="2606040"/>
            <a:ext cx="16459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903720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80/20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6995160" y="33832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(154 mẫu test)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(1/2): Phân phối và tương quan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4" name="Image 0" descr="/home/claude/fig/f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188720"/>
            <a:ext cx="2423160" cy="187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Hình 1: Phân phối Glucose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547872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Tập trung ở 90–130, đuôi phải kéo tới ~200. Nhóm Glucose cao là vùng có nhiều ca bệnh nên Glucose là đặc trưng quan trọng.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246120" y="1097280"/>
            <a:ext cx="260604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8" name="Image 1" descr="/home/claude/fig/f2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337560" y="1188720"/>
            <a:ext cx="2423160" cy="1874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4612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Hình 2: Ma trận tương quan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3547872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tương quan mạnh nhất với Outcome (0.49), sau đó là BMI (0.31). Age–Pregnancies và BMI–SkinThickness đều 0.54: các đặc trưng không độc lập.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035040" y="1097280"/>
            <a:ext cx="260604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2" name="Image 2" descr="/home/claude/fig/f3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26480" y="1188720"/>
            <a:ext cx="2423160" cy="18745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03504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Hình 3: Glucose × BMI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3547872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bệnh (đỏ) dồn về góc trên phải (Glucose cao, BMI &gt; 30) nhưng vùng giữa chồng lấn nhiều, cần mô hình bắt được quan hệ phi tuyến.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(2/2): Outlier, nhãn và tuổi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4" name="Image 0" descr="/home/claude/fig/f4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188720"/>
            <a:ext cx="2423160" cy="187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Hình 4: Boxplot Insulin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547872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Nhiều outlier tới ~850, phân phối lệch phải mạnh. Vì vậy dùng Median (không dùng Mean) để điền 374 giá trị 0 vô lý.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246120" y="1097280"/>
            <a:ext cx="260604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8" name="Image 1" descr="/home/claude/fig/f5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337560" y="1188720"/>
            <a:ext cx="2423160" cy="1874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4612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Hình 5: Tỷ lệ nhãn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3547872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bình thường so với 268 mắc bệnh (~65/35): lệch nhẹ. Không chỉ nhìn Accuracy mà cần xem Recall/F1, và chia Train/Test có stratify.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035040" y="1097280"/>
            <a:ext cx="260604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2" name="Image 2" descr="/home/claude/fig/f6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26480" y="1188720"/>
            <a:ext cx="2423160" cy="18745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03504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Hình 6: Tuổi theo tình trạng bệnh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3547872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khỏe tập trung ở 20–30 tuổi; nhóm bệnh có trung vị ~36 và trải rộng hơn: tuổi càng cao, nguy cơ càng lớn.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 mô hình theo tiêu chí sàng lọc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3891221"/>
              </p:ext>
            </p:extLst>
          </p:nvPr>
        </p:nvGraphicFramePr>
        <p:xfrm>
          <a:off x="457200" y="1280160"/>
          <a:ext cx="8229600" cy="25298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Recall +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Specificity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Weighted 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Recall +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(khuyên dùng)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Ngưỡng được chọn bằng 5-fold CV trên 80% train để đạt Recall lớp dương mục tiêu 80%; mô hình được chọn theo Specificity CV cao nhất. 20% test (154 mẫu) chỉ dùng đánh giá cuối. Weighted F1 là chỉ số bổ sung. Mục tiêu 80% là giả định minh họa.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Chọn mô hình cho mục tiêu sàng lọc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261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 chọn mô hình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179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mỗi mô hình, chọn threshold từ dự đoán out-of-fold trên 80% train để đạt Recall lớp dương mục tiêu 80%; sau đó chọn mô hình có Specificity CV cao nhất.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" y="21305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5-fold CV trên train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8658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được chọn: Recall 80.4%, Specificity 70.3%, Weighted F1 74.4%, threshold 25.9%. Đây là kết quả CV, không phải cam kết cho từng người dùng.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4937760" cy="89611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080" y="2999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độc lập trên test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552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154 mẫu test, SVM Recall là 75.9%, thấp hơn mục tiêu 80%. Không dùng test để chọn mô hình hay chỉnh threshold; kết quả cho thấy mục tiêu chưa khái quát tốt ở lần chia này.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577840" y="1188720"/>
            <a:ext cx="3108960" cy="251460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76072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Lợi ích và giới hạn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169164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dương ưu tiên hạn chế bỏ sót ca bệnh.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 cao hơn giúp giảm cảnh báo nhầm khi đã đạt Recall mục tiêu.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F1 và Accuracy được báo cáo để bổ sung góc nhìn tổng thể.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Recall 80% là giả định minh họa, chưa được xác nhận lâm sàng.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56611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0080" y="4129763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Chênh Specificity CV giữa SVM và Random Forest chỉ 0.5 điểm phần trăm. Đây là lựa chọn theo điểm ước lượng của một bộ dữ liệu nhỏ; cần kiểm chứng ngoài mẫu trước khi kết luận chắc chắn.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mô hình còn lại: điểm mạnh và đánh đổi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371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 Regression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116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Ưu điểm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40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Recall đạt mục tiêu; mô hình đơn giản, dễ giải thích. Specificity CV 69.0%, thấp hơn SVM 70.3%.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346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không chọn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063240"/>
            <a:ext cx="2286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Vẫn là lựa chọn hợp lý khi cần baseline dễ diễn giải; chênh lệch với SVM nhỏ và chưa chứng minh kém hơn trong mọi tình huống.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118872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29000" y="1371600"/>
            <a:ext cx="457200" cy="45720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1371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Naive Bayes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0116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Ưu điểm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240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Recall đạt mục tiêu; cách tính nhanh và cấu trúc đơn giản. Weighted F1 CV 72.3%.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8346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không chọn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3063240"/>
            <a:ext cx="2286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 CV 67.0%, thấp hơn SVM nên có thể tạo nhiều cảnh báo nhầm hơn ở cùng mục tiêu Recall. Giả định độc lập giữa đặc trưng cũng cần lưu ý.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18872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812280" y="1371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0116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Ưu điểm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2240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Recall đạt mục tiêu; Weighted F1 CV 74.1%, gần SVM 74.4%. Có thể mô hình hóa quan hệ phi tuyến.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28346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không chọn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063240"/>
            <a:ext cx="2286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 CV 69.8%, chỉ thấp hơn SVM 0.5 điểm phần trăm. SVM được chọn theo quy tắc đã định; khác biệt nhỏ cần được kiểm chứng, không khẳng định RF luôn kém hơn.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Triển khai hệ thống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6916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7200" y="12618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Người dùng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81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duyệt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651760" y="1188720"/>
            <a:ext cx="16916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651760" y="12618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Nginx Gateway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1581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cổng 8080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16916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846320" y="12618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1581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:8000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040880" y="1188720"/>
            <a:ext cx="1691640" cy="731520"/>
          </a:xfrm>
          <a:prstGeom prst="roundRect">
            <a:avLst>
              <a:gd name="adj" fmla="val 12500"/>
            </a:avLst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040880" y="12618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Service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1581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:8001, model.joblib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94560" y="1554480"/>
            <a:ext cx="457200" cy="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389120" y="1554480"/>
            <a:ext cx="457200" cy="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583680" y="1554480"/>
            <a:ext cx="457200" cy="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651760" y="2286000"/>
            <a:ext cx="16916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651760" y="235915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697480" y="267919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2286000"/>
            <a:ext cx="16916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846320" y="235915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MongoDB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267919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lịch sử dự đoán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93008" y="1920240"/>
            <a:ext cx="0" cy="36576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687568" y="1920240"/>
            <a:ext cx="0" cy="36576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57200" y="3291840"/>
            <a:ext cx="365760" cy="3657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3291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Huấn luyện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379476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Bốn pipeline đã huấn luyện; threshold từng mô hình được chọn bằng CV trên train và lưu cùng model.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560320" y="3291840"/>
            <a:ext cx="365760" cy="3657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56032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017520" y="3291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Service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560320" y="379476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Nạp cả 4 model khi khởi động; mỗi yêu cầu dự đoán trả xác suất, threshold, nhãn và kết quả đánh giá cho từng model.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63440" y="3291840"/>
            <a:ext cx="365760" cy="3657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66344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20640" y="3291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663440" y="379476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tra dữ liệu, gọi AI Service một lần để lấy kết quả 4 model, lưu lịch sử và trả dữ liệu cho giao diện.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766560" y="3291840"/>
            <a:ext cx="365760" cy="3657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665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7223760" y="3291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Đóng gói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379476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 -d, sau đó mở http://localhost:8080 để dùng thử.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32363" y="2038003"/>
            <a:ext cx="376843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smtClean="0">
                <a:solidFill>
                  <a:srgbClr val="0F4C5C"/>
                </a:solidFill>
                <a:latin typeface="Cambria" pitchFamily="34" charset="0"/>
                <a:ea typeface="Cambria" pitchFamily="34" charset="-122"/>
              </a:rPr>
              <a:t>Thanks for listening!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3325435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1144</Words>
  <Application>Microsoft Office PowerPoint</Application>
  <PresentationFormat>On-screen Show (16:9)</PresentationFormat>
  <Paragraphs>134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Dự đoán nguy cơ tiểu đường</dc:title>
  <dc:subject>PptxGenJS Presentation</dc:subject>
  <dc:creator>PptxGenJS</dc:creator>
  <cp:lastModifiedBy>ACER</cp:lastModifiedBy>
  <cp:revision>6</cp:revision>
  <dcterms:created xsi:type="dcterms:W3CDTF">2026-09-29T08:23:24Z</dcterms:created>
  <dcterms:modified xsi:type="dcterms:W3CDTF">2026-10-02T17:33:44Z</dcterms:modified>
</cp:coreProperties>
</file>